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0B8E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0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955280" y="-914400"/>
            <a:ext cx="5029200" cy="5029200"/>
          </a:xfrm>
          <a:prstGeom prst="arc">
            <a:avLst/>
          </a:prstGeom>
          <a:solidFill>
            <a:srgbClr val="1677C8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-182880"/>
            <a:ext cx="3337560" cy="3337560"/>
          </a:xfrm>
          <a:prstGeom prst="arc">
            <a:avLst/>
          </a:prstGeom>
          <a:solidFill>
            <a:srgbClr val="50B8E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658368"/>
            <a:ext cx="2240280" cy="25603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690372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TECHNICAL PRESENTATION</a:t>
            </a:r>
            <a:endParaRPr lang="en-US" sz="67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32588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RxGuard AI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975104"/>
            <a:ext cx="6583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D9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Medicine Safety</a:t>
            </a:r>
            <a:endParaRPr lang="en-US" sz="2350" dirty="0"/>
          </a:p>
          <a:p>
            <a:pPr algn="l" indent="0" marL="0">
              <a:buNone/>
            </a:pPr>
            <a:r>
              <a:rPr lang="en-US" sz="2350" b="1" dirty="0">
                <a:solidFill>
                  <a:srgbClr val="D9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Intelligent Alternatives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29443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grounded decision-support platform that keeps verified regulatory data—not generative output—as the source of truth.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" y="4041648"/>
            <a:ext cx="1874520" cy="1051560"/>
          </a:xfrm>
          <a:prstGeom prst="roundRect">
            <a:avLst/>
          </a:prstGeom>
          <a:solidFill>
            <a:srgbClr val="143E63"/>
          </a:solidFill>
          <a:ln w="9525">
            <a:solidFill>
              <a:srgbClr val="2D67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4041648"/>
            <a:ext cx="68580" cy="105156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2428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Registry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44897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status, provenance, recalls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2660904" y="4041648"/>
            <a:ext cx="1874520" cy="1051560"/>
          </a:xfrm>
          <a:prstGeom prst="roundRect">
            <a:avLst/>
          </a:prstGeom>
          <a:solidFill>
            <a:srgbClr val="143E63"/>
          </a:solidFill>
          <a:ln w="9525">
            <a:solidFill>
              <a:srgbClr val="2D67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60904" y="4041648"/>
            <a:ext cx="68580" cy="105156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825496" y="42428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2798064" y="44897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Keywords + local embeddings + use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736592" y="4041648"/>
            <a:ext cx="1874520" cy="1051560"/>
          </a:xfrm>
          <a:prstGeom prst="roundRect">
            <a:avLst/>
          </a:prstGeom>
          <a:solidFill>
            <a:srgbClr val="143E63"/>
          </a:solidFill>
          <a:ln w="9525">
            <a:solidFill>
              <a:srgbClr val="2D67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4041648"/>
            <a:ext cx="68580" cy="1051560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01184" y="42428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AI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44897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B9DD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Gemini ranking with validation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699248" y="3840480"/>
            <a:ext cx="3575304" cy="129844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410565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spc="100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DECISION FLOW</a:t>
            </a:r>
            <a:endParaRPr lang="en-US" sz="710" dirty="0"/>
          </a:p>
        </p:txBody>
      </p:sp>
      <p:sp>
        <p:nvSpPr>
          <p:cNvPr id="27" name="Text 25"/>
          <p:cNvSpPr txBox="1"/>
          <p:nvPr/>
        </p:nvSpPr>
        <p:spPr>
          <a:xfrm>
            <a:off x="7909560" y="437083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→ Analyze → Recommend</a:t>
            </a:r>
            <a:endParaRPr lang="en-US" sz="1620" dirty="0"/>
          </a:p>
          <a:p>
            <a:pPr algn="ctr" indent="0" marL="0">
              <a:buNone/>
            </a:pPr>
            <a:r>
              <a:rPr lang="en-US" sz="162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→ Inform</a:t>
            </a:r>
            <a:endParaRPr lang="en-US" sz="1620" dirty="0"/>
          </a:p>
        </p:txBody>
      </p:sp>
      <p:sp>
        <p:nvSpPr>
          <p:cNvPr id="28" name="Text 26"/>
          <p:cNvSpPr txBox="1"/>
          <p:nvPr/>
        </p:nvSpPr>
        <p:spPr>
          <a:xfrm>
            <a:off x="576072" y="5788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45" kern="0" dirty="0">
                <a:solidFill>
                  <a:srgbClr val="50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 audit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Medication safety is a data-and-workflow problem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need a clear, traceable answer before they act on a medicine or prescription.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3504" y="1645920"/>
            <a:ext cx="3364992" cy="1993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" y="1645920"/>
            <a:ext cx="68580" cy="1993392"/>
          </a:xfrm>
          <a:prstGeom prst="roundRect">
            <a:avLst/>
          </a:prstGeom>
          <a:solidFill>
            <a:srgbClr val="C44753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" y="1938528"/>
            <a:ext cx="548640" cy="548640"/>
          </a:xfrm>
          <a:prstGeom prst="ellipse">
            <a:avLst/>
          </a:prstGeom>
          <a:solidFill>
            <a:srgbClr val="C4475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204277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190195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medicines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25420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brand name alone does not reveal current regulatory or safety status.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4425696" y="1645920"/>
            <a:ext cx="3364992" cy="1993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25696" y="1645920"/>
            <a:ext cx="68580" cy="1993392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19" name="Shape 17"/>
          <p:cNvSpPr/>
          <p:nvPr/>
        </p:nvSpPr>
        <p:spPr>
          <a:xfrm>
            <a:off x="4672584" y="1938528"/>
            <a:ext cx="548640" cy="548640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72584" y="204277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58384" y="190195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workflow gaps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81728" y="25420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Patients, clinicians, and administrators work from disconnected information.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8247888" y="1645920"/>
            <a:ext cx="3364992" cy="19933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47888" y="1645920"/>
            <a:ext cx="68580" cy="199339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25" name="Shape 23"/>
          <p:cNvSpPr/>
          <p:nvPr/>
        </p:nvSpPr>
        <p:spPr>
          <a:xfrm>
            <a:off x="8494776" y="1938528"/>
            <a:ext cx="548640" cy="548640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94776" y="204277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1901952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Opaque recommendations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5420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AI advice cannot be trusted without verified candidate controls.</a:t>
            </a:r>
            <a:endParaRPr lang="en-US" sz="1010" dirty="0"/>
          </a:p>
        </p:txBody>
      </p:sp>
      <p:sp>
        <p:nvSpPr>
          <p:cNvPr id="29" name="Text 27"/>
          <p:cNvSpPr txBox="1"/>
          <p:nvPr/>
        </p:nvSpPr>
        <p:spPr>
          <a:xfrm>
            <a:off x="612648" y="407822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the people who need an accountable safety decision: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1792" y="4517136"/>
            <a:ext cx="3355848" cy="1078992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736592"/>
            <a:ext cx="868680" cy="25603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6112" y="4768596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670" dirty="0"/>
          </a:p>
        </p:txBody>
      </p:sp>
      <p:sp>
        <p:nvSpPr>
          <p:cNvPr id="33" name="Text 31"/>
          <p:cNvSpPr txBox="1"/>
          <p:nvPr/>
        </p:nvSpPr>
        <p:spPr>
          <a:xfrm>
            <a:off x="1847088" y="46817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a medicine and stores prescription images.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4416552" y="4517136"/>
            <a:ext cx="3355848" cy="1078992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4736592"/>
            <a:ext cx="868680" cy="25603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90872" y="4768596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670" dirty="0"/>
          </a:p>
        </p:txBody>
      </p:sp>
      <p:sp>
        <p:nvSpPr>
          <p:cNvPr id="37" name="Text 35"/>
          <p:cNvSpPr txBox="1"/>
          <p:nvPr/>
        </p:nvSpPr>
        <p:spPr>
          <a:xfrm>
            <a:off x="5641848" y="46817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patient files and checks typed prescriptions.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211312" y="4517136"/>
            <a:ext cx="3355848" cy="1078992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4736592"/>
            <a:ext cx="868680" cy="25603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85632" y="4768596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70" dirty="0"/>
          </a:p>
        </p:txBody>
      </p:sp>
      <p:sp>
        <p:nvSpPr>
          <p:cNvPr id="41" name="Text 39"/>
          <p:cNvSpPr txBox="1"/>
          <p:nvPr/>
        </p:nvSpPr>
        <p:spPr>
          <a:xfrm>
            <a:off x="9436608" y="46817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Maintains the registry, approvals, and audit trail.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safety layer across discovery, analysis, and follow-up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combines registry evidence, deterministic checks, and a bounded AI reasoning step.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66928" y="1719072"/>
            <a:ext cx="254203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719072"/>
            <a:ext cx="68580" cy="288036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19659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7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423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registry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127248"/>
            <a:ext cx="2048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Products, ingredients, notices, recall batches, provenance, and status history.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3429000" y="1719072"/>
            <a:ext cx="254203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719072"/>
            <a:ext cx="68580" cy="2880360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30168" y="19659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0B8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2423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discovery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30168" y="3127248"/>
            <a:ext cx="2048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matching + local semantic vectors + verified therapeutic-use overlap.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291072" y="1719072"/>
            <a:ext cx="254203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91072" y="1719072"/>
            <a:ext cx="68580" cy="2880360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19659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84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423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analysis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127248"/>
            <a:ext cx="2048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prescription lines are matched to products and classified by current status.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153144" y="1719072"/>
            <a:ext cx="2542032" cy="2880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53144" y="1719072"/>
            <a:ext cx="68580" cy="2880360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54312" y="19659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3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354312" y="2423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alternatives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54312" y="3127248"/>
            <a:ext cx="2048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ranks only already-safe candidates; the database revalidates every output.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252728" y="5157216"/>
            <a:ext cx="9674352" cy="658368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72768" y="5330952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design principle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3044952" y="5266944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explain a choice, but it never creates the trusted candidate set or the final medicine record.</a:t>
            </a:r>
            <a:endParaRPr lang="en-US" sz="11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guided journey from input to accountable next step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supports search and typed prescription review while preserving an evidence trail.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12064" y="1874520"/>
            <a:ext cx="2414016" cy="18836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" y="1874520"/>
            <a:ext cx="68580" cy="1883664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" y="2148840"/>
            <a:ext cx="429768" cy="429768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" y="223049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7432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 medicine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type prescription text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3008376" y="2688336"/>
            <a:ext cx="32918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10712" y="1874520"/>
            <a:ext cx="2414016" cy="18836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1874520"/>
            <a:ext cx="68580" cy="1883664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3621024" y="2148840"/>
            <a:ext cx="429768" cy="429768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21024" y="223049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50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830" dirty="0"/>
          </a:p>
        </p:txBody>
      </p:sp>
      <p:sp>
        <p:nvSpPr>
          <p:cNvPr id="23" name="Text 21"/>
          <p:cNvSpPr txBox="1"/>
          <p:nvPr/>
        </p:nvSpPr>
        <p:spPr>
          <a:xfrm>
            <a:off x="3630168" y="27432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product identity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current safety status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07024" y="2688336"/>
            <a:ext cx="32918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874520"/>
            <a:ext cx="2414016" cy="18836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874520"/>
            <a:ext cx="68580" cy="1883664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7" name="Shape 25"/>
          <p:cNvSpPr/>
          <p:nvPr/>
        </p:nvSpPr>
        <p:spPr>
          <a:xfrm>
            <a:off x="6519672" y="2148840"/>
            <a:ext cx="429768" cy="429768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19672" y="223049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059168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6528816" y="27432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verified safety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 and provenance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8805672" y="2688336"/>
            <a:ext cx="32918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32" name="Shape 30"/>
          <p:cNvSpPr/>
          <p:nvPr/>
        </p:nvSpPr>
        <p:spPr>
          <a:xfrm>
            <a:off x="9208008" y="1874520"/>
            <a:ext cx="2414016" cy="18836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208008" y="1874520"/>
            <a:ext cx="68580" cy="1883664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4" name="Shape 32"/>
          <p:cNvSpPr/>
          <p:nvPr/>
        </p:nvSpPr>
        <p:spPr>
          <a:xfrm>
            <a:off x="9418320" y="2148840"/>
            <a:ext cx="429768" cy="429768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0" y="2230496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957816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80" kern="0" dirty="0">
                <a:solidFill>
                  <a:srgbClr val="103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830" dirty="0"/>
          </a:p>
        </p:txBody>
      </p:sp>
      <p:sp>
        <p:nvSpPr>
          <p:cNvPr id="37" name="Text 35"/>
          <p:cNvSpPr txBox="1"/>
          <p:nvPr/>
        </p:nvSpPr>
        <p:spPr>
          <a:xfrm>
            <a:off x="9427464" y="274320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validated safe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 or block print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713232" y="4315968"/>
            <a:ext cx="10716768" cy="758952"/>
          </a:xfrm>
          <a:prstGeom prst="roundRect">
            <a:avLst/>
          </a:prstGeom>
          <a:solidFill>
            <a:srgbClr val="EDF0FF"/>
          </a:solidFill>
          <a:ln w="9525">
            <a:solidFill>
              <a:srgbClr val="D8DF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5840" y="4471416"/>
            <a:ext cx="320040" cy="320040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05840" y="453222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481328" y="4489704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photos are supported as uploaded records. Safety analysis uses typed text; OCR/text extraction is not implemented.</a:t>
            </a:r>
            <a:endParaRPr lang="en-US" sz="1070" dirty="0"/>
          </a:p>
        </p:txBody>
      </p:sp>
      <p:sp>
        <p:nvSpPr>
          <p:cNvPr id="42" name="Text 40"/>
          <p:cNvSpPr txBox="1"/>
          <p:nvPr/>
        </p:nvSpPr>
        <p:spPr>
          <a:xfrm>
            <a:off x="722376" y="5504688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an explainable workflow that separates product identity, safety evidence, candidate retrieval, and AI-assisted ranking.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architecture: web client, REST API, registry, and bounded AI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Express API coordinates application workflows while local embeddings and Gemini serve distinct roles.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30352" y="1901952"/>
            <a:ext cx="2057400" cy="1755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901952"/>
            <a:ext cx="68580" cy="175564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1488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5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 WEB CLIENT</a:t>
            </a:r>
            <a:endParaRPr lang="en-US" sz="81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5694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 Router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auth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API client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255264" y="1901952"/>
            <a:ext cx="2240280" cy="1755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55264" y="1901952"/>
            <a:ext cx="68580" cy="1755648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56432" y="21488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55" kern="0" dirty="0">
                <a:solidFill>
                  <a:srgbClr val="103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REST API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256946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medicines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 • history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• uploads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172200" y="1901952"/>
            <a:ext cx="2176272" cy="17556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901952"/>
            <a:ext cx="68580" cy="175564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73368" y="21488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55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81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569464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mediverify registry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workflows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JSONB embeddings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2660904" y="2651760"/>
            <a:ext cx="420624" cy="310896"/>
          </a:xfrm>
          <a:prstGeom prst="chevron">
            <a:avLst/>
          </a:prstGeom>
          <a:solidFill>
            <a:srgbClr val="1677C8"/>
          </a:solidFill>
          <a:ln/>
        </p:spPr>
      </p:sp>
      <p:sp>
        <p:nvSpPr>
          <p:cNvPr id="24" name="Shape 22"/>
          <p:cNvSpPr/>
          <p:nvPr/>
        </p:nvSpPr>
        <p:spPr>
          <a:xfrm>
            <a:off x="5596128" y="2651760"/>
            <a:ext cx="420624" cy="310896"/>
          </a:xfrm>
          <a:prstGeom prst="chevron">
            <a:avLst/>
          </a:prstGeom>
          <a:solidFill>
            <a:srgbClr val="1677C8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0848" y="1481328"/>
            <a:ext cx="2487168" cy="1353312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70848" y="1481328"/>
            <a:ext cx="68580" cy="1353312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08592" y="1728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5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ML</a:t>
            </a:r>
            <a:endParaRPr lang="en-US" sz="81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20116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Xenova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all-MiniLM-L6-v2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9070848" y="3227832"/>
            <a:ext cx="2487168" cy="1353312"/>
          </a:xfrm>
          <a:prstGeom prst="roundRect">
            <a:avLst/>
          </a:prstGeom>
          <a:solidFill>
            <a:srgbClr val="EDF0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70848" y="3227832"/>
            <a:ext cx="68580" cy="1353312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08592" y="3474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spc="55" kern="0" dirty="0">
                <a:solidFill>
                  <a:srgbClr val="103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 SERVICE</a:t>
            </a:r>
            <a:endParaRPr lang="en-US" sz="81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74904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constrained ranking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366760" y="2596896"/>
            <a:ext cx="8988552" cy="2148840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50B8E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66760" y="2971800"/>
            <a:ext cx="8988552" cy="3803904"/>
          </a:xfrm>
          <a:prstGeom prst="line">
            <a:avLst/>
          </a:prstGeom>
          <a:solidFill>
            <a:srgbClr val="FFFFFF">
              <a:alpha val="0"/>
            </a:srgbClr>
          </a:solidFill>
          <a:ln w="15875">
            <a:solidFill>
              <a:srgbClr val="103B6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7512" y="5001768"/>
            <a:ext cx="10607040" cy="512064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0976" y="517550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spc="60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Boundaries</a:t>
            </a:r>
            <a:endParaRPr lang="en-US" sz="730" dirty="0"/>
          </a:p>
        </p:txBody>
      </p:sp>
      <p:sp>
        <p:nvSpPr>
          <p:cNvPr id="37" name="Text 35"/>
          <p:cNvSpPr txBox="1"/>
          <p:nvPr/>
        </p:nvSpPr>
        <p:spPr>
          <a:xfrm>
            <a:off x="1865376" y="5102352"/>
            <a:ext cx="8887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are local inference; Gemini never searches the database and receives only verified, pre-filtered candidate data.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architecture: route-aware, role-aware, resilient UI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 Router and shared client-side primitives provide a responsive web workflow.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66928" y="1673352"/>
            <a:ext cx="3401568" cy="34107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673352"/>
            <a:ext cx="68580" cy="341071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1956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&amp; shells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" y="2697480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25877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 Router file-based pages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932688" y="3273552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316382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Authenticated (app) route group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932688" y="3849624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37398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Role-protected dashboards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4389120" y="1673352"/>
            <a:ext cx="3401568" cy="34107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1673352"/>
            <a:ext cx="68580" cy="3410712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45152" y="1956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&amp; API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2697480"/>
            <a:ext cx="73152" cy="73152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19472" y="25877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Context authentication state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4754880" y="3273552"/>
            <a:ext cx="73152" cy="73152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19472" y="316382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Bearer-token Fetch API client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754880" y="3849624"/>
            <a:ext cx="73152" cy="73152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19472" y="37398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FormData support for image uploads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8211312" y="1673352"/>
            <a:ext cx="3401568" cy="34107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1673352"/>
            <a:ext cx="68580" cy="341071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67344" y="1956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states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577072" y="2697480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741664" y="25877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Loading and API error handling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8577072" y="3273552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741664" y="3163824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and medicine detail views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8577072" y="3849624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41664" y="37398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Patient, doctor, and admin workflows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4242816" y="5504688"/>
            <a:ext cx="3730752" cy="256032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315968" y="5536692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SAME-ORIGIN WEB BUILD SUPPORTED</a:t>
            </a:r>
            <a:endParaRPr lang="en-US" sz="67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" y="5879592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Express serves the static frontend on port 3001, the API client uses /api; otherwise it reads EXPO_PUBLIC_API_URL.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architecture: Express modules enforce the safety workflow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hosts REST endpoints, database integration, uploads, local ML startup, and the built web client.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024128" y="1527048"/>
            <a:ext cx="10168128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1527048"/>
            <a:ext cx="68580" cy="70408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89888" y="174650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middleware</a:t>
            </a:r>
            <a:endParaRPr lang="en-US" sz="117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170992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dotenv • CORS • JSON body parsing • static web serving • Multer uploads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1024128" y="2487168"/>
            <a:ext cx="10168128" cy="704088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487168"/>
            <a:ext cx="68580" cy="704088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89888" y="27066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modules</a:t>
            </a:r>
            <a:endParaRPr lang="en-US" sz="117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67004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medicines • prescriptions • history • admin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1024128" y="3447288"/>
            <a:ext cx="10168128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3447288"/>
            <a:ext cx="68580" cy="70408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89888" y="366674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utilities</a:t>
            </a:r>
            <a:endParaRPr lang="en-US" sz="117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63016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• grounded alternatives • embeddings • medical-use vocabulary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1024128" y="4407408"/>
            <a:ext cx="10168128" cy="704088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407408"/>
            <a:ext cx="68580" cy="704088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389888" y="46268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access</a:t>
            </a:r>
            <a:endParaRPr lang="en-US" sz="117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459028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pg queries • PostgreSQL initialization • idempotent embedding columns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1847088" y="5632704"/>
            <a:ext cx="8503920" cy="429768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75688" y="5742432"/>
            <a:ext cx="8074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behavior: initialize schema → attempt local embedding generation in the background → continue in keyword-only mode if embeddings are not ready.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architecture: two schemas separate regulatory truth from workflows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holds both the verified product registry and user-facing application records.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58368" y="1581912"/>
            <a:ext cx="5340096" cy="3611880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1581912"/>
            <a:ext cx="68580" cy="361188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856232"/>
            <a:ext cx="1243584" cy="25603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18882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MEDIVERIFY</a:t>
            </a:r>
            <a:endParaRPr lang="en-US" sz="670" dirty="0"/>
          </a:p>
        </p:txBody>
      </p:sp>
      <p:sp>
        <p:nvSpPr>
          <p:cNvPr id="15" name="Text 13"/>
          <p:cNvSpPr txBox="1"/>
          <p:nvPr/>
        </p:nvSpPr>
        <p:spPr>
          <a:xfrm>
            <a:off x="923544" y="22768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Regulatory registry &amp; provenance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" y="2907792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2798064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products: status, source text, JSONB embedding, model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32688" y="3346704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3236976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ingredients and product_ingredients composition links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932688" y="3785616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3675888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notices, recall_batches, sources, status history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932688" y="4224528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97280" y="4114800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roles, admin_events, approval state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199632" y="1581912"/>
            <a:ext cx="5340096" cy="3611880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1581912"/>
            <a:ext cx="68580" cy="3611880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55664" y="1856232"/>
            <a:ext cx="1051560" cy="25603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28816" y="1888236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</a:t>
            </a:r>
            <a:endParaRPr lang="en-US" sz="67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22768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workflow records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73952" y="2907792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38544" y="2798064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prescriptions: typed details and uploaded-image metadata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473952" y="3346704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38544" y="3236976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patient_files and doctor_prescriptions notepad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473952" y="3785616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38544" y="3675888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search_history for every user role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473952" y="4224528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4114800"/>
            <a:ext cx="4334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backups and retailer records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806440" y="3127248"/>
            <a:ext cx="228600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98448" y="5541264"/>
            <a:ext cx="9582912" cy="475488"/>
          </a:xfrm>
          <a:prstGeom prst="roundRect">
            <a:avLst/>
          </a:prstGeom>
          <a:solidFill>
            <a:srgbClr val="EDF0FF"/>
          </a:solidFill>
          <a:ln w="9525">
            <a:solidFill>
              <a:srgbClr val="D8DFF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591056" y="5678424"/>
            <a:ext cx="8997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fact: vectors are stored as JSONB and scored in Node.js; this project does not use pgvector or a database vector index.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semantic search balances name matching, meaning, and medical use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ranking deliberately requires more than a fuzzy word match to protect relevance.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6616" y="1792224"/>
            <a:ext cx="1920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" y="1792224"/>
            <a:ext cx="68580" cy="120700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199339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5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521208" y="231343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Brand, generic,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therapeutic phrase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368296" y="2258568"/>
            <a:ext cx="201168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6" name="Shape 14"/>
          <p:cNvSpPr/>
          <p:nvPr/>
        </p:nvSpPr>
        <p:spPr>
          <a:xfrm>
            <a:off x="2734056" y="1792224"/>
            <a:ext cx="1920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34056" y="1792224"/>
            <a:ext cx="68580" cy="1207008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80360" y="199339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55" kern="0" dirty="0">
                <a:solidFill>
                  <a:srgbClr val="50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</a:t>
            </a:r>
            <a:endParaRPr lang="en-US" sz="760" dirty="0"/>
          </a:p>
        </p:txBody>
      </p:sp>
      <p:sp>
        <p:nvSpPr>
          <p:cNvPr id="19" name="Text 17"/>
          <p:cNvSpPr txBox="1"/>
          <p:nvPr/>
        </p:nvSpPr>
        <p:spPr>
          <a:xfrm>
            <a:off x="2898648" y="231343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name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745736" y="2258568"/>
            <a:ext cx="201168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1" name="Shape 19"/>
          <p:cNvSpPr/>
          <p:nvPr/>
        </p:nvSpPr>
        <p:spPr>
          <a:xfrm>
            <a:off x="5111496" y="1792224"/>
            <a:ext cx="1920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11496" y="1792224"/>
            <a:ext cx="68580" cy="120700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257800" y="199339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55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760" dirty="0"/>
          </a:p>
        </p:txBody>
      </p:sp>
      <p:sp>
        <p:nvSpPr>
          <p:cNvPr id="24" name="Text 22"/>
          <p:cNvSpPr txBox="1"/>
          <p:nvPr/>
        </p:nvSpPr>
        <p:spPr>
          <a:xfrm>
            <a:off x="5276088" y="231343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384-D local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vector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123176" y="2258568"/>
            <a:ext cx="201168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6" name="Shape 24"/>
          <p:cNvSpPr/>
          <p:nvPr/>
        </p:nvSpPr>
        <p:spPr>
          <a:xfrm>
            <a:off x="7488936" y="1792224"/>
            <a:ext cx="1920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88936" y="1792224"/>
            <a:ext cx="68580" cy="1207008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199339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55" kern="0" dirty="0">
                <a:solidFill>
                  <a:srgbClr val="103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MATCH</a:t>
            </a:r>
            <a:endParaRPr lang="en-US" sz="760" dirty="0"/>
          </a:p>
        </p:txBody>
      </p:sp>
      <p:sp>
        <p:nvSpPr>
          <p:cNvPr id="29" name="Text 27"/>
          <p:cNvSpPr txBox="1"/>
          <p:nvPr/>
        </p:nvSpPr>
        <p:spPr>
          <a:xfrm>
            <a:off x="7653528" y="231343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medical-use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overlap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9500616" y="2258568"/>
            <a:ext cx="201168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31" name="Shape 29"/>
          <p:cNvSpPr/>
          <p:nvPr/>
        </p:nvSpPr>
        <p:spPr>
          <a:xfrm>
            <a:off x="9866376" y="1792224"/>
            <a:ext cx="1920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866376" y="1792224"/>
            <a:ext cx="68580" cy="120700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12680" y="199339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spc="5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760" dirty="0"/>
          </a:p>
        </p:txBody>
      </p:sp>
      <p:sp>
        <p:nvSpPr>
          <p:cNvPr id="34" name="Text 32"/>
          <p:cNvSpPr txBox="1"/>
          <p:nvPr/>
        </p:nvSpPr>
        <p:spPr>
          <a:xfrm>
            <a:off x="10030968" y="2313432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relevant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102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7307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ranking composition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67512" y="4151376"/>
            <a:ext cx="303580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" y="4151376"/>
            <a:ext cx="68580" cy="960120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" y="4370832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0B8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30%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1700784" y="4443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similarity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4123944" y="4151376"/>
            <a:ext cx="303580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4151376"/>
            <a:ext cx="68580" cy="960120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306824" y="4370832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4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45%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5157216" y="4443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use overlap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7580376" y="4151376"/>
            <a:ext cx="303580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0376" y="4151376"/>
            <a:ext cx="68580" cy="96012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63256" y="4370832"/>
            <a:ext cx="75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7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25%</a:t>
            </a:r>
            <a:endParaRPr lang="en-US" sz="1900" dirty="0"/>
          </a:p>
        </p:txBody>
      </p:sp>
      <p:sp>
        <p:nvSpPr>
          <p:cNvPr id="47" name="Text 45"/>
          <p:cNvSpPr txBox="1"/>
          <p:nvPr/>
        </p:nvSpPr>
        <p:spPr>
          <a:xfrm>
            <a:off x="8613648" y="444398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signal</a:t>
            </a:r>
            <a:endParaRPr lang="en-US" sz="970" dirty="0"/>
          </a:p>
        </p:txBody>
      </p:sp>
      <p:sp>
        <p:nvSpPr>
          <p:cNvPr id="48" name="Text 46"/>
          <p:cNvSpPr txBox="1"/>
          <p:nvPr/>
        </p:nvSpPr>
        <p:spPr>
          <a:xfrm>
            <a:off x="713232" y="5650992"/>
            <a:ext cx="10561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 threshold: 0.30 (except strict keyword hits). Semantic candidates default to a 0.15 similarity threshold.</a:t>
            </a:r>
            <a:endParaRPr lang="en-US" sz="9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Prescription safety analysis is typed-text matching—not OCR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entered line is normalized, matched against the registry, and assessed against its current safety status.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408176" y="1664208"/>
            <a:ext cx="438912" cy="43891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08176" y="174760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" y="2304288"/>
            <a:ext cx="233172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2304288"/>
            <a:ext cx="68580" cy="1335024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8952" y="25237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889504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prescription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line by 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2761488"/>
            <a:ext cx="28346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8536" y="1664208"/>
            <a:ext cx="438912" cy="438912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88536" y="174760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56432" y="2304288"/>
            <a:ext cx="233172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6432" y="2304288"/>
            <a:ext cx="68580" cy="1335024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39312" y="25237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50B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82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2889504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numbering,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 and dosage prefixes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761488"/>
            <a:ext cx="28346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7168896" y="1664208"/>
            <a:ext cx="438912" cy="43891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68896" y="174760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36792" y="2304288"/>
            <a:ext cx="233172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36792" y="2304288"/>
            <a:ext cx="68580" cy="1335024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19672" y="25237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2889504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/ prefix / token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bigram comparison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2520" y="2761488"/>
            <a:ext cx="28346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49256" y="1664208"/>
            <a:ext cx="438912" cy="438912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049256" y="1747601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17152" y="2304288"/>
            <a:ext cx="2331720" cy="1335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17152" y="2304288"/>
            <a:ext cx="68580" cy="1335024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00032" y="2523744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70" kern="0" dirty="0">
                <a:solidFill>
                  <a:srgbClr val="103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820" dirty="0"/>
          </a:p>
        </p:txBody>
      </p:sp>
      <p:sp>
        <p:nvSpPr>
          <p:cNvPr id="37" name="Text 35"/>
          <p:cNvSpPr txBox="1"/>
          <p:nvPr/>
        </p:nvSpPr>
        <p:spPr>
          <a:xfrm>
            <a:off x="9418320" y="2889504"/>
            <a:ext cx="1901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= safe; every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recognized item must be safe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77824" y="4261104"/>
            <a:ext cx="5010912" cy="987552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" y="4261104"/>
            <a:ext cx="68580" cy="98755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161288" y="44988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Safe-to-print condition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1161288" y="4800600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all_safe = results.length &gt; 0 AND every matched item is active</a:t>
            </a:r>
            <a:endParaRPr lang="en-US" sz="910" dirty="0"/>
          </a:p>
        </p:txBody>
      </p:sp>
      <p:sp>
        <p:nvSpPr>
          <p:cNvPr id="42" name="Shape 40"/>
          <p:cNvSpPr/>
          <p:nvPr/>
        </p:nvSpPr>
        <p:spPr>
          <a:xfrm>
            <a:off x="6281928" y="4261104"/>
            <a:ext cx="5010912" cy="987552"/>
          </a:xfrm>
          <a:prstGeom prst="roundRect">
            <a:avLst/>
          </a:prstGeom>
          <a:solidFill>
            <a:srgbClr val="EDF0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81928" y="4261104"/>
            <a:ext cx="68580" cy="98755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565392" y="449884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boundary</a:t>
            </a:r>
            <a:endParaRPr lang="en-US" sz="102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4754880"/>
            <a:ext cx="4270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 can be uploaded, stored, and viewed; no OCR endpoint or text extraction pipeline is implemented.</a:t>
            </a:r>
            <a:endParaRPr lang="en-US" sz="89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5751576"/>
            <a:ext cx="10204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Recognition threshold: 0.42. Unknown or unmatched lines are marked unsafe rather than silently passed.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recommends only inside a pre-verified safe candidate set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contributes constrained selection and short reasoning; candidate discovery remains deterministic and database-grounded.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30352" y="1709928"/>
            <a:ext cx="2468880" cy="2304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709928"/>
            <a:ext cx="68580" cy="230428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1956816"/>
            <a:ext cx="384048" cy="384048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029785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17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2660904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safe products and score candidates against the unsafe product.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3072384" y="2688336"/>
            <a:ext cx="228600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8" name="Shape 16"/>
          <p:cNvSpPr/>
          <p:nvPr/>
        </p:nvSpPr>
        <p:spPr>
          <a:xfrm>
            <a:off x="3419856" y="1709928"/>
            <a:ext cx="2468880" cy="2304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9856" y="1709928"/>
            <a:ext cx="68580" cy="230428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0" name="Shape 18"/>
          <p:cNvSpPr/>
          <p:nvPr/>
        </p:nvSpPr>
        <p:spPr>
          <a:xfrm>
            <a:off x="3639312" y="1956816"/>
            <a:ext cx="384048" cy="384048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39312" y="2029785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178808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170" dirty="0"/>
          </a:p>
        </p:txBody>
      </p:sp>
      <p:sp>
        <p:nvSpPr>
          <p:cNvPr id="23" name="Text 21"/>
          <p:cNvSpPr txBox="1"/>
          <p:nvPr/>
        </p:nvSpPr>
        <p:spPr>
          <a:xfrm>
            <a:off x="3648456" y="2660904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active products only; require minimum 0.08 composite score; take at most 8.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5961888" y="2688336"/>
            <a:ext cx="228600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1709928"/>
            <a:ext cx="2468880" cy="2304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709928"/>
            <a:ext cx="68580" cy="2304288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7" name="Shape 25"/>
          <p:cNvSpPr/>
          <p:nvPr/>
        </p:nvSpPr>
        <p:spPr>
          <a:xfrm>
            <a:off x="6528816" y="1956816"/>
            <a:ext cx="384048" cy="384048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28816" y="2029785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with Gemini</a:t>
            </a:r>
            <a:endParaRPr lang="en-US" sz="117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2660904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with candidate IDs and structured JSON contract only.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8851392" y="2688336"/>
            <a:ext cx="228600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32" name="Shape 30"/>
          <p:cNvSpPr/>
          <p:nvPr/>
        </p:nvSpPr>
        <p:spPr>
          <a:xfrm>
            <a:off x="9198864" y="1709928"/>
            <a:ext cx="2468880" cy="23042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98864" y="1709928"/>
            <a:ext cx="68580" cy="2304288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418320" y="1956816"/>
            <a:ext cx="384048" cy="384048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0" y="2029785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957816" y="19933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70" dirty="0"/>
          </a:p>
        </p:txBody>
      </p:sp>
      <p:sp>
        <p:nvSpPr>
          <p:cNvPr id="37" name="Text 35"/>
          <p:cNvSpPr txBox="1"/>
          <p:nvPr/>
        </p:nvSpPr>
        <p:spPr>
          <a:xfrm>
            <a:off x="9427464" y="2660904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ID membership, database existence, and active status again.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1115568" y="4599432"/>
            <a:ext cx="9939528" cy="804672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353312" y="4828032"/>
            <a:ext cx="9418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score = 50% ingredient Jaccard + 25% semantic similarity + 25% therapeutic-use overlap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188720" y="5733288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compatibility chain: gemini-2.5-flash → gemini-3.6-flash → gemini-3-flash-preview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 prevention is enforced in code, not delegated to a prompt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UI record is fetched from PostgreSQL after multiple hard validation gates.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365760" cy="365760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167335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81328" y="1499616"/>
            <a:ext cx="94640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1499616"/>
            <a:ext cx="68580" cy="56692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83080" y="16733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retrieval</a:t>
            </a:r>
            <a:endParaRPr lang="en-US" sz="101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664208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originates from the database retrieval step.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914400" y="2432304"/>
            <a:ext cx="365760" cy="365760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50545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81328" y="2331720"/>
            <a:ext cx="9464040" cy="566928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1328" y="2331720"/>
            <a:ext cx="68580" cy="56692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783080" y="25054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Active-only filter</a:t>
            </a:r>
            <a:endParaRPr lang="en-US" sz="101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496312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or inactive products never reach the AI candidate list.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14400" y="3264408"/>
            <a:ext cx="365760" cy="365760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33756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481328" y="3163824"/>
            <a:ext cx="94640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1328" y="3163824"/>
            <a:ext cx="68580" cy="566928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783080" y="333756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membership</a:t>
            </a:r>
            <a:endParaRPr lang="en-US" sz="101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3328416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recommended_medicine_id must be inside the supplied candidate set.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4400" y="4096512"/>
            <a:ext cx="365760" cy="365760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41696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81328" y="3995928"/>
            <a:ext cx="9464040" cy="566928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81328" y="3995928"/>
            <a:ext cx="68580" cy="566928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783080" y="41696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database check</a:t>
            </a:r>
            <a:endParaRPr lang="en-US" sz="101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4160520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confirms row existence and current active safety status.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914400" y="4928616"/>
            <a:ext cx="365760" cy="365760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0017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81328" y="4828032"/>
            <a:ext cx="94640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81328" y="4828032"/>
            <a:ext cx="68580" cy="566928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783080" y="50017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display source</a:t>
            </a:r>
            <a:endParaRPr lang="en-US" sz="1010" dirty="0"/>
          </a:p>
        </p:txBody>
      </p:sp>
      <p:sp>
        <p:nvSpPr>
          <p:cNvPr id="40" name="Text 38"/>
          <p:cNvSpPr txBox="1"/>
          <p:nvPr/>
        </p:nvSpPr>
        <p:spPr>
          <a:xfrm>
            <a:off x="3840480" y="4992624"/>
            <a:ext cx="6537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medicine detail is loaded from PostgreSQL—not AI prose.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3648456" y="5843016"/>
            <a:ext cx="4828032" cy="256032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721608" y="5875020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REMAINS THE SOURCE OF TRUTH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availability does not determine whether a safety workflow completes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makes failure explicit and falls back to a deterministic algorithmic ranking.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3504" y="1627632"/>
            <a:ext cx="2331720" cy="667512"/>
          </a:xfrm>
          <a:prstGeom prst="roundRect">
            <a:avLst/>
          </a:prstGeom>
          <a:solidFill>
            <a:srgbClr val="FFF7EA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" y="1627632"/>
            <a:ext cx="68580" cy="667512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18562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GEMINI_API_KEY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17520" y="1819656"/>
            <a:ext cx="19202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5" name="Shape 13"/>
          <p:cNvSpPr/>
          <p:nvPr/>
        </p:nvSpPr>
        <p:spPr>
          <a:xfrm>
            <a:off x="3419856" y="1627632"/>
            <a:ext cx="2331720" cy="667512"/>
          </a:xfrm>
          <a:prstGeom prst="roundRect">
            <a:avLst/>
          </a:prstGeom>
          <a:solidFill>
            <a:srgbClr val="FFF7EA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9856" y="1627632"/>
            <a:ext cx="68580" cy="667512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02736" y="18562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Model/network failure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833872" y="1819656"/>
            <a:ext cx="19202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19" name="Shape 17"/>
          <p:cNvSpPr/>
          <p:nvPr/>
        </p:nvSpPr>
        <p:spPr>
          <a:xfrm>
            <a:off x="6236208" y="1627632"/>
            <a:ext cx="2331720" cy="667512"/>
          </a:xfrm>
          <a:prstGeom prst="roundRect">
            <a:avLst/>
          </a:prstGeom>
          <a:solidFill>
            <a:srgbClr val="FFF7EA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627632"/>
            <a:ext cx="68580" cy="667512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9088" y="18562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Malformed response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50224" y="1819656"/>
            <a:ext cx="192024" cy="310896"/>
          </a:xfrm>
          <a:prstGeom prst="chevron">
            <a:avLst/>
          </a:prstGeom>
          <a:solidFill>
            <a:srgbClr val="C9E4F3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1627632"/>
            <a:ext cx="2331720" cy="667512"/>
          </a:xfrm>
          <a:prstGeom prst="roundRect">
            <a:avLst/>
          </a:prstGeom>
          <a:solidFill>
            <a:srgbClr val="FFF7EA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627632"/>
            <a:ext cx="68580" cy="667512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35440" y="185623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or DB validation failure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0" y="2834640"/>
            <a:ext cx="8540496" cy="1207008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0" y="2834640"/>
            <a:ext cx="68580" cy="1207008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157984" y="30998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75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FALLBACK</a:t>
            </a:r>
            <a:endParaRPr lang="en-US" sz="810" dirty="0"/>
          </a:p>
        </p:txBody>
      </p:sp>
      <p:sp>
        <p:nvSpPr>
          <p:cNvPr id="29" name="Text 27"/>
          <p:cNvSpPr txBox="1"/>
          <p:nvPr/>
        </p:nvSpPr>
        <p:spPr>
          <a:xfrm>
            <a:off x="2157984" y="3438144"/>
            <a:ext cx="7278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safe candidates with ai_powered: false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627632" y="4700016"/>
            <a:ext cx="272491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783080" y="49011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496312" y="4956048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ingredient overlap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690872" y="4700016"/>
            <a:ext cx="272491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49011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559552" y="4956048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similarity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7754112" y="4700016"/>
            <a:ext cx="2724912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9560" y="490118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7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10%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22792" y="4956048"/>
            <a:ext cx="1581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dosage-form match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5852160"/>
            <a:ext cx="9802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distinguishes AI-powered output from algorithmic output, so the user interface never hides degraded capability.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Role-specific workflows share the same safety foundation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roles see tailored actions while the security and registry rules remain central.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76656" y="1691640"/>
            <a:ext cx="3291840" cy="2907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" y="1691640"/>
            <a:ext cx="68580" cy="290779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91056" y="2039112"/>
            <a:ext cx="1444752" cy="256032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64208" y="20711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1078992" y="2898648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43584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verified medicines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1078992" y="3410712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43584" y="330098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and view prescription images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1078992" y="3922776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43584" y="38130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prescription history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4462272" y="1691640"/>
            <a:ext cx="3291840" cy="2907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1691640"/>
            <a:ext cx="68580" cy="290779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76672" y="2039112"/>
            <a:ext cx="1444752" cy="256032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49824" y="20711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4864608" y="2898648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0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patient folders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4864608" y="3410712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29200" y="330098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in the notepad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4864608" y="3922776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29200" y="38130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typed prescription safety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8247888" y="1691640"/>
            <a:ext cx="3291840" cy="2907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47888" y="1691640"/>
            <a:ext cx="68580" cy="2907792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3" name="Shape 31"/>
          <p:cNvSpPr/>
          <p:nvPr/>
        </p:nvSpPr>
        <p:spPr>
          <a:xfrm>
            <a:off x="9162288" y="2039112"/>
            <a:ext cx="1444752" cy="256032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20711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650224" y="2898648"/>
            <a:ext cx="73152" cy="73152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814816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doctor accounts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8650224" y="3410712"/>
            <a:ext cx="73152" cy="73152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814816" y="330098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medicine registry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8650224" y="3922776"/>
            <a:ext cx="73152" cy="73152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814816" y="38130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safety and admin events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1325880" y="5394960"/>
            <a:ext cx="9528048" cy="438912"/>
          </a:xfrm>
          <a:prstGeom prst="roundRect">
            <a:avLst/>
          </a:prstGeom>
          <a:solidFill>
            <a:srgbClr val="F5FAFE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27048" y="552297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 ties every workflow to authenticated identity, role checks, approval status, and ownership verification.</a:t>
            </a:r>
            <a:endParaRPr lang="en-US" sz="9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validation controls are practical, with explicit hackathon limits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protects key application boundaries while keeping limitations visible for reviewers.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0080" y="1618488"/>
            <a:ext cx="5358384" cy="3621024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618488"/>
            <a:ext cx="68580" cy="3621024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18745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CONTROLS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950976" y="2523744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15568" y="24140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authentication with 30-day expiry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50976" y="2990088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5568" y="2880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password hashing (10 rounds)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50976" y="3456432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" y="33467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guard and doctor-approval middleware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50976" y="3922776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15568" y="38130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CNIC, email, and password validation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950976" y="4389120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15568" y="42793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Parameterized PostgreSQL queries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90488" y="1618488"/>
            <a:ext cx="5358384" cy="3621024"/>
          </a:xfrm>
          <a:prstGeom prst="roundRect">
            <a:avLst/>
          </a:prstGeom>
          <a:solidFill>
            <a:srgbClr val="FFF9F0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0488" y="1618488"/>
            <a:ext cx="68580" cy="3621024"/>
          </a:xfrm>
          <a:prstGeom prst="roundRect">
            <a:avLst/>
          </a:prstGeom>
          <a:solidFill>
            <a:srgbClr val="C7831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18745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spc="80" kern="0" dirty="0">
                <a:solidFill>
                  <a:srgbClr val="C783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 TO HARDEN NEXT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510528" y="2523744"/>
            <a:ext cx="73152" cy="73152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24140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ownership checks for prescription images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510528" y="2990088"/>
            <a:ext cx="73152" cy="73152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75120" y="2880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Image-only MIME filter and 10 MB upload limit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510528" y="3456432"/>
            <a:ext cx="73152" cy="73152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3346704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Backend-only Gemini API key via .env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510528" y="3922776"/>
            <a:ext cx="73152" cy="73152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75120" y="381304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dedicated API rate limiter yet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510528" y="4389120"/>
            <a:ext cx="73152" cy="73152"/>
          </a:xfrm>
          <a:prstGeom prst="ellipse">
            <a:avLst/>
          </a:prstGeom>
          <a:solidFill>
            <a:srgbClr val="C7831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75120" y="42793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CORS and a development JWT fallback require hardening</a:t>
            </a:r>
            <a:endParaRPr lang="en-US" sz="970" dirty="0"/>
          </a:p>
        </p:txBody>
      </p:sp>
      <p:sp>
        <p:nvSpPr>
          <p:cNvPr id="37" name="Text 35"/>
          <p:cNvSpPr txBox="1"/>
          <p:nvPr/>
        </p:nvSpPr>
        <p:spPr>
          <a:xfrm>
            <a:off x="868680" y="5650992"/>
            <a:ext cx="10479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447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limitation: the current code does not implement drug–drug interactions, dose-range checks, allergy/contraindication models, or clinical diagnosis.</a:t>
            </a:r>
            <a:endParaRPr lang="en-US" sz="9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portability: a runnable local stack with graceful degradation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is designed for repeatable setup while distinguishing optional AI enhancement from core behavior.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2459736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682496"/>
            <a:ext cx="68580" cy="201168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1938528"/>
            <a:ext cx="365760" cy="365760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0080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271016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58775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for PostgreSQL, JWT_SECRET, and optional GEMINI_API_KEY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3447288" y="1682496"/>
            <a:ext cx="2459736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47288" y="1682496"/>
            <a:ext cx="68580" cy="2011680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85032" y="1938528"/>
            <a:ext cx="365760" cy="365760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85032" y="20080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151376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85032" y="258775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idempotent PostgreSQL schema and seed data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327648" y="1682496"/>
            <a:ext cx="2459736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27648" y="1682496"/>
            <a:ext cx="68580" cy="2011680"/>
          </a:xfrm>
          <a:prstGeom prst="roundRect">
            <a:avLst/>
          </a:prstGeom>
          <a:solidFill>
            <a:srgbClr val="103B63"/>
          </a:solidFill>
          <a:ln/>
        </p:spPr>
      </p:sp>
      <p:sp>
        <p:nvSpPr>
          <p:cNvPr id="25" name="Shape 23"/>
          <p:cNvSpPr/>
          <p:nvPr/>
        </p:nvSpPr>
        <p:spPr>
          <a:xfrm>
            <a:off x="6565392" y="1938528"/>
            <a:ext cx="365760" cy="365760"/>
          </a:xfrm>
          <a:prstGeom prst="ellipse">
            <a:avLst/>
          </a:prstGeom>
          <a:solidFill>
            <a:srgbClr val="103B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65392" y="20080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031736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258775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initializes API and can serve frontend/dist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9208008" y="1682496"/>
            <a:ext cx="2459736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08008" y="1682496"/>
            <a:ext cx="68580" cy="2011680"/>
          </a:xfrm>
          <a:prstGeom prst="roundRect">
            <a:avLst/>
          </a:prstGeom>
          <a:solidFill>
            <a:srgbClr val="50B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445752" y="1938528"/>
            <a:ext cx="365760" cy="365760"/>
          </a:xfrm>
          <a:prstGeom prst="ellipse">
            <a:avLst/>
          </a:prstGeom>
          <a:solidFill>
            <a:srgbClr val="50B8E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45752" y="200802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912096" y="1993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up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445752" y="2587752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 downloads on first use; semantic search becomes available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859536" y="4480560"/>
            <a:ext cx="10415016" cy="676656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70432" y="4700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Graceful-degradation behavior</a:t>
            </a:r>
            <a:endParaRPr lang="en-US" sz="940" dirty="0"/>
          </a:p>
        </p:txBody>
      </p:sp>
      <p:sp>
        <p:nvSpPr>
          <p:cNvPr id="37" name="Text 35"/>
          <p:cNvSpPr txBox="1"/>
          <p:nvPr/>
        </p:nvSpPr>
        <p:spPr>
          <a:xfrm>
            <a:off x="3127248" y="4645152"/>
            <a:ext cx="7635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0A25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embeddings fail to initialize, smart search continues in keyword-only mode. If Gemini is unavailable, alternatives use deterministic ranking.</a:t>
            </a:r>
            <a:endParaRPr lang="en-US" sz="1010" dirty="0"/>
          </a:p>
        </p:txBody>
      </p:sp>
      <p:sp>
        <p:nvSpPr>
          <p:cNvPr id="38" name="Text 36"/>
          <p:cNvSpPr txBox="1"/>
          <p:nvPr/>
        </p:nvSpPr>
        <p:spPr>
          <a:xfrm>
            <a:off x="914400" y="5696712"/>
            <a:ext cx="10378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setup note: use a personal Gemini key in backend/.env for AI reasoning, or omit it to demonstrate the documented fallback. Never commit the key.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from the working product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existing screenshots show the implemented user experience; captions avoid claims beyond the current code.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66928" y="1472184"/>
            <a:ext cx="2679192" cy="4325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pic>
        <p:nvPicPr>
          <p:cNvPr id="12" name="Image 0" descr="d:\Flutter_Projects\rxguard\RxGuard_AI\docs\test-screenshots\01-landing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536192"/>
            <a:ext cx="2551176" cy="39776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76656" y="5568696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/ discovery experience</a:t>
            </a:r>
            <a:endParaRPr lang="en-US" sz="660" dirty="0"/>
          </a:p>
        </p:txBody>
      </p:sp>
      <p:sp>
        <p:nvSpPr>
          <p:cNvPr id="14" name="Shape 11"/>
          <p:cNvSpPr/>
          <p:nvPr/>
        </p:nvSpPr>
        <p:spPr>
          <a:xfrm>
            <a:off x="3447288" y="1472184"/>
            <a:ext cx="2679192" cy="4325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pic>
        <p:nvPicPr>
          <p:cNvPr id="15" name="Image 1" descr="d:\Flutter_Projects\rxguard\RxGuard_AI\docs\test-screenshots\06-notepad-safety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536192"/>
            <a:ext cx="2551176" cy="3977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57016" y="5568696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notepad safety-check UI</a:t>
            </a:r>
            <a:endParaRPr lang="en-US" sz="660" dirty="0"/>
          </a:p>
        </p:txBody>
      </p:sp>
      <p:sp>
        <p:nvSpPr>
          <p:cNvPr id="17" name="Shape 13"/>
          <p:cNvSpPr/>
          <p:nvPr/>
        </p:nvSpPr>
        <p:spPr>
          <a:xfrm>
            <a:off x="6327648" y="1472184"/>
            <a:ext cx="2679192" cy="4325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pic>
        <p:nvPicPr>
          <p:cNvPr id="18" name="Image 2" descr="d:\Flutter_Projects\rxguard\RxGuard_AI\docs\test-screenshots\07-novidat-learn-m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536192"/>
            <a:ext cx="2551176" cy="3977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37376" y="5568696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notice UI</a:t>
            </a:r>
            <a:endParaRPr lang="en-US" sz="660" dirty="0"/>
          </a:p>
        </p:txBody>
      </p:sp>
      <p:sp>
        <p:nvSpPr>
          <p:cNvPr id="20" name="Shape 15"/>
          <p:cNvSpPr/>
          <p:nvPr/>
        </p:nvSpPr>
        <p:spPr>
          <a:xfrm>
            <a:off x="9208008" y="1472184"/>
            <a:ext cx="2414016" cy="4325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pic>
        <p:nvPicPr>
          <p:cNvPr id="21" name="Image 3" descr="d:\Flutter_Projects\rxguard\RxGuard_AI\docs\test-screenshots\10-admin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536192"/>
            <a:ext cx="2286000" cy="39776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17736" y="556869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management dashboard</a:t>
            </a:r>
            <a:endParaRPr lang="en-US" sz="66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6044184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are product evidence only. The safety notice image is not presented as evidence of current Gemini reasoning; current AI behavior is verified from the backend pipeline.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77C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08760"/>
            <a:ext cx="3200400" cy="32004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4" name="Shape 2"/>
          <p:cNvSpPr/>
          <p:nvPr/>
        </p:nvSpPr>
        <p:spPr>
          <a:xfrm>
            <a:off x="-1234440" y="5440680"/>
            <a:ext cx="2514600" cy="2514600"/>
          </a:xfrm>
          <a:prstGeom prst="arc">
            <a:avLst/>
          </a:prstGeom>
          <a:solidFill>
            <a:srgbClr val="EA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648309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spc="11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AI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2084832" y="648309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spc="30" kern="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SAFETY • VERIFIED DATA • GROUNDED AI</a:t>
            </a:r>
            <a:endParaRPr lang="en-US" sz="620" dirty="0"/>
          </a:p>
        </p:txBody>
      </p:sp>
      <p:sp>
        <p:nvSpPr>
          <p:cNvPr id="7" name="Text 5"/>
          <p:cNvSpPr txBox="1"/>
          <p:nvPr/>
        </p:nvSpPr>
        <p:spPr>
          <a:xfrm>
            <a:off x="11201400" y="642823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3108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spc="13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OVERVIEW</a:t>
            </a:r>
            <a:endParaRPr lang="en-US" sz="72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5486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Differentiators today, responsible roadmap tomorrow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0058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D74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RxGuard is strongest where it combines workflow usability with verifiable control of AI-assisted decisions.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0080" y="1581912"/>
            <a:ext cx="5358384" cy="3611880"/>
          </a:xfrm>
          <a:prstGeom prst="roundRect">
            <a:avLst/>
          </a:prstGeom>
          <a:solidFill>
            <a:srgbClr val="EAF7FD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581912"/>
            <a:ext cx="68580" cy="3611880"/>
          </a:xfrm>
          <a:prstGeom prst="roundRect">
            <a:avLst/>
          </a:prstGeom>
          <a:solidFill>
            <a:srgbClr val="1684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41832" y="187452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5" kern="0" dirty="0">
                <a:solidFill>
                  <a:srgbClr val="168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DIFFERENTIATORS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87552" y="2505456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239572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registry with safety provenance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987552" y="2971800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52144" y="2862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Medical-use grounded hybrid search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987552" y="3438144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52144" y="332841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prescription safety gate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87552" y="3904488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52144" y="379476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ranking constrained to safe candidates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987552" y="4370832"/>
            <a:ext cx="73152" cy="73152"/>
          </a:xfrm>
          <a:prstGeom prst="ellipse">
            <a:avLst/>
          </a:prstGeom>
          <a:solidFill>
            <a:srgbClr val="1684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52144" y="4261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and transparent fallback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90488" y="1581912"/>
            <a:ext cx="5358384" cy="3611880"/>
          </a:xfrm>
          <a:prstGeom prst="roundRect">
            <a:avLst/>
          </a:prstGeom>
          <a:solidFill>
            <a:srgbClr val="EDF0FF"/>
          </a:solidFill>
          <a:ln w="9525">
            <a:solidFill>
              <a:srgbClr val="C9E4F3"/>
            </a:solidFill>
            <a:prstDash val="solid"/>
          </a:ln>
          <a:effectLst>
            <a:outerShdw sx="100000" sy="100000" kx="0" ky="0" algn="bl" rotWithShape="0" blurRad="12700" dist="50800" dir="2700000">
              <a:srgbClr val="9BBBC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0488" y="1581912"/>
            <a:ext cx="68580" cy="3611880"/>
          </a:xfrm>
          <a:prstGeom prst="roundRect">
            <a:avLst/>
          </a:prstGeom>
          <a:solidFill>
            <a:srgbClr val="1677C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187452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75" kern="0" dirty="0">
                <a:solidFill>
                  <a:srgbClr val="167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28816" y="2505456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93408" y="2395728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as a separately validated capability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528816" y="2971800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93408" y="2862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Drug–drug interaction and dose checks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6528816" y="3438144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93408" y="332841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Allergy and contraindication models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528816" y="3904488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93408" y="3794760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/ indexed semantic retrieval at scale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6528816" y="4370832"/>
            <a:ext cx="73152" cy="73152"/>
          </a:xfrm>
          <a:prstGeom prst="ellipse">
            <a:avLst/>
          </a:prstGeom>
          <a:solidFill>
            <a:srgbClr val="1677C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93408" y="4261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6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limiting, restrictive CORS, and key management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1975104" y="5577840"/>
            <a:ext cx="8229600" cy="475488"/>
          </a:xfrm>
          <a:prstGeom prst="roundRect">
            <a:avLst/>
          </a:prstGeom>
          <a:solidFill>
            <a:srgbClr val="0A254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194560" y="5715000"/>
            <a:ext cx="7790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 • Questions &amp; technical discussion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RxGuard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RxGuard AI: AI-Powered Medicine Safety &amp; Intelligent Alternatives</dc:title>
  <dc:subject>Technical architecture and product evidence</dc:subject>
  <dc:creator>RxGuard AI</dc:creator>
  <cp:lastModifiedBy>RxGuard AI</cp:lastModifiedBy>
  <cp:revision>1</cp:revision>
  <dcterms:created xsi:type="dcterms:W3CDTF">2026-09-07T14:39:41Z</dcterms:created>
  <dcterms:modified xsi:type="dcterms:W3CDTF">2026-09-07T14:39:41Z</dcterms:modified>
</cp:coreProperties>
</file>